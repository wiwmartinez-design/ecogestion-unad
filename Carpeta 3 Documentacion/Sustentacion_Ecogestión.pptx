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92" r:id="rId2"/>
    <p:sldId id="257" r:id="rId3"/>
    <p:sldId id="291" r:id="rId4"/>
    <p:sldId id="284" r:id="rId5"/>
    <p:sldId id="266" r:id="rId6"/>
    <p:sldId id="286" r:id="rId7"/>
    <p:sldId id="294" r:id="rId8"/>
    <p:sldId id="285" r:id="rId9"/>
    <p:sldId id="289" r:id="rId10"/>
    <p:sldId id="293" r:id="rId11"/>
    <p:sldId id="283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520E"/>
    <a:srgbClr val="2B7D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FEFEF"/>
          </a:solidFill>
        </a:fill>
      </a:tcStyle>
    </a:wholeTbl>
    <a:band2H>
      <a:tcTxStyle/>
      <a:tcStyle>
        <a:tcBdr/>
        <a:fill>
          <a:solidFill>
            <a:srgbClr val="F7F7F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BE8CA"/>
          </a:solidFill>
        </a:fill>
      </a:tcStyle>
    </a:wholeTbl>
    <a:band2H>
      <a:tcTxStyle/>
      <a:tcStyle>
        <a:tcBdr/>
        <a:fill>
          <a:solidFill>
            <a:srgbClr val="FDF4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CBDE"/>
          </a:solidFill>
        </a:fill>
      </a:tcStyle>
    </a:wholeTbl>
    <a:band2H>
      <a:tcTxStyle/>
      <a:tcStyle>
        <a:tcBdr/>
        <a:fill>
          <a:solidFill>
            <a:srgbClr val="EBE7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6" autoAdjust="0"/>
  </p:normalViewPr>
  <p:slideViewPr>
    <p:cSldViewPr snapToGrid="0">
      <p:cViewPr varScale="1">
        <p:scale>
          <a:sx n="52" d="100"/>
          <a:sy n="52" d="100"/>
        </p:scale>
        <p:origin x="11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0" name="Shape 16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35030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0014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0;p23" descr="Google Shape;10;p2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24876" y="0"/>
            <a:ext cx="12352351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Texto del título"/>
          <p:cNvSpPr txBox="1">
            <a:spLocks noGrp="1"/>
          </p:cNvSpPr>
          <p:nvPr>
            <p:ph type="title"/>
          </p:nvPr>
        </p:nvSpPr>
        <p:spPr>
          <a:xfrm>
            <a:off x="6576148" y="3676420"/>
            <a:ext cx="4183202" cy="1552201"/>
          </a:xfrm>
          <a:prstGeom prst="rect">
            <a:avLst/>
          </a:prstGeom>
        </p:spPr>
        <p:txBody>
          <a:bodyPr anchor="b"/>
          <a:lstStyle>
            <a:lvl1pPr algn="r">
              <a:defRPr sz="3300">
                <a:solidFill>
                  <a:srgbClr val="FFFFFF"/>
                </a:solidFill>
              </a:defRPr>
            </a:lvl1pPr>
          </a:lstStyle>
          <a:p>
            <a:r>
              <a:t>Texto del título</a:t>
            </a:r>
          </a:p>
        </p:txBody>
      </p:sp>
      <p:sp>
        <p:nvSpPr>
          <p:cNvPr id="17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6353549" y="5259251"/>
            <a:ext cx="4405801" cy="768901"/>
          </a:xfrm>
          <a:prstGeom prst="rect">
            <a:avLst/>
          </a:prstGeom>
        </p:spPr>
        <p:txBody>
          <a:bodyPr anchor="b"/>
          <a:lstStyle>
            <a:lvl1pPr marL="406400" indent="-355600" algn="r">
              <a:buClrTx/>
              <a:buSzTx/>
              <a:buFontTx/>
              <a:buNone/>
              <a:defRPr sz="2200">
                <a:solidFill>
                  <a:srgbClr val="00FFFF"/>
                </a:solidFill>
              </a:defRPr>
            </a:lvl1pPr>
            <a:lvl2pPr marL="406400" indent="127000" algn="r">
              <a:buClrTx/>
              <a:buSzTx/>
              <a:buFontTx/>
              <a:buNone/>
              <a:defRPr sz="2200">
                <a:solidFill>
                  <a:srgbClr val="00FFFF"/>
                </a:solidFill>
              </a:defRPr>
            </a:lvl2pPr>
            <a:lvl3pPr marL="406400" indent="609600" algn="r">
              <a:buClrTx/>
              <a:buSzTx/>
              <a:buFontTx/>
              <a:buNone/>
              <a:defRPr sz="2200">
                <a:solidFill>
                  <a:srgbClr val="00FFFF"/>
                </a:solidFill>
              </a:defRPr>
            </a:lvl3pPr>
            <a:lvl4pPr marL="406400" indent="1079500" algn="r">
              <a:buClrTx/>
              <a:buSzTx/>
              <a:buFontTx/>
              <a:buNone/>
              <a:defRPr sz="2200">
                <a:solidFill>
                  <a:srgbClr val="00FFFF"/>
                </a:solidFill>
              </a:defRPr>
            </a:lvl4pPr>
            <a:lvl5pPr marL="406400" indent="1536700" algn="r">
              <a:buClrTx/>
              <a:buSzTx/>
              <a:buFontTx/>
              <a:buNone/>
              <a:defRPr sz="2200">
                <a:solidFill>
                  <a:srgbClr val="00FFFF"/>
                </a:solidFill>
              </a:defRPr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pic>
        <p:nvPicPr>
          <p:cNvPr id="18" name="Google Shape;13;p23" descr="Google Shape;13;p2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>
            <a:off x="8428498" y="2569549"/>
            <a:ext cx="7281327" cy="163422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" name="Google Shape;14;p23" descr="Google Shape;14;p23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76148" y="1043351"/>
            <a:ext cx="4183159" cy="721016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ítulo y objeto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Nivel de texto 1…"/>
          <p:cNvSpPr txBox="1">
            <a:spLocks noGrp="1"/>
          </p:cNvSpPr>
          <p:nvPr>
            <p:ph type="body" sz="half" idx="1"/>
          </p:nvPr>
        </p:nvSpPr>
        <p:spPr>
          <a:xfrm>
            <a:off x="3058149" y="2048924"/>
            <a:ext cx="8295601" cy="3751202"/>
          </a:xfrm>
          <a:prstGeom prst="rect">
            <a:avLst/>
          </a:prstGeom>
        </p:spPr>
        <p:txBody>
          <a:bodyPr/>
          <a:lstStyle>
            <a:lvl1pPr indent="-342900"/>
            <a:lvl2pPr marL="971550" indent="-400050"/>
            <a:lvl3pPr marL="1508760" indent="-480060"/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28" name="Texto del título"/>
          <p:cNvSpPr txBox="1">
            <a:spLocks noGrp="1"/>
          </p:cNvSpPr>
          <p:nvPr>
            <p:ph type="title"/>
          </p:nvPr>
        </p:nvSpPr>
        <p:spPr>
          <a:xfrm>
            <a:off x="3058152" y="365125"/>
            <a:ext cx="6339900" cy="12942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r>
              <a:t>Texto del título</a:t>
            </a:r>
          </a:p>
        </p:txBody>
      </p:sp>
      <p:pic>
        <p:nvPicPr>
          <p:cNvPr id="29" name="Google Shape;18;p24" descr="Google Shape;18;p2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4910683" y="2977016"/>
            <a:ext cx="12192001" cy="1649017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20;p24" descr="Google Shape;20;p2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93186" y="264722"/>
            <a:ext cx="1182169" cy="838082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Imagen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98438" y="6031230"/>
            <a:ext cx="2465083" cy="634991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22;p25" descr="Google Shape;22;p2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7725" y="-57501"/>
            <a:ext cx="12294398" cy="6960350"/>
          </a:xfrm>
          <a:prstGeom prst="rect">
            <a:avLst/>
          </a:prstGeom>
          <a:ln w="12700">
            <a:miter lim="400000"/>
          </a:ln>
        </p:spPr>
      </p:pic>
      <p:sp>
        <p:nvSpPr>
          <p:cNvPr id="40" name="Texto del título"/>
          <p:cNvSpPr txBox="1">
            <a:spLocks noGrp="1"/>
          </p:cNvSpPr>
          <p:nvPr>
            <p:ph type="title"/>
          </p:nvPr>
        </p:nvSpPr>
        <p:spPr>
          <a:xfrm>
            <a:off x="1151626" y="2920893"/>
            <a:ext cx="5063401" cy="1783801"/>
          </a:xfrm>
          <a:prstGeom prst="rect">
            <a:avLst/>
          </a:prstGeom>
        </p:spPr>
        <p:txBody>
          <a:bodyPr anchor="b"/>
          <a:lstStyle>
            <a:lvl1pPr algn="l">
              <a:defRPr sz="3300">
                <a:solidFill>
                  <a:srgbClr val="FFFFFF"/>
                </a:solidFill>
              </a:defRPr>
            </a:lvl1pPr>
          </a:lstStyle>
          <a:p>
            <a:r>
              <a:t>Texto del título</a:t>
            </a:r>
          </a:p>
        </p:txBody>
      </p:sp>
      <p:pic>
        <p:nvPicPr>
          <p:cNvPr id="41" name="Google Shape;24;p25" descr="Google Shape;24;p2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32" y="4992084"/>
            <a:ext cx="12192001" cy="1649017"/>
          </a:xfrm>
          <a:prstGeom prst="rect">
            <a:avLst/>
          </a:prstGeom>
          <a:ln w="12700">
            <a:miter lim="400000"/>
          </a:ln>
        </p:spPr>
      </p:pic>
      <p:sp>
        <p:nvSpPr>
          <p:cNvPr id="42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54;p26" descr="Google Shape;54;p2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0"/>
            <a:ext cx="12192000" cy="1684734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Texto del título"/>
          <p:cNvSpPr txBox="1">
            <a:spLocks noGrp="1"/>
          </p:cNvSpPr>
          <p:nvPr>
            <p:ph type="title"/>
          </p:nvPr>
        </p:nvSpPr>
        <p:spPr>
          <a:xfrm>
            <a:off x="4779050" y="225608"/>
            <a:ext cx="6630001" cy="1063501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121" name="Nivel de texto 1…"/>
          <p:cNvSpPr txBox="1">
            <a:spLocks noGrp="1"/>
          </p:cNvSpPr>
          <p:nvPr>
            <p:ph type="body" idx="1"/>
          </p:nvPr>
        </p:nvSpPr>
        <p:spPr>
          <a:xfrm>
            <a:off x="838200" y="1981200"/>
            <a:ext cx="10515600" cy="3979201"/>
          </a:xfrm>
          <a:prstGeom prst="rect">
            <a:avLst/>
          </a:prstGeom>
        </p:spPr>
        <p:txBody>
          <a:bodyPr/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pic>
        <p:nvPicPr>
          <p:cNvPr id="122" name="Imagen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98438" y="6023610"/>
            <a:ext cx="2494664" cy="642611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iseño personaliza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755748" y="6333133"/>
            <a:ext cx="384997" cy="37335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  <p:pic>
        <p:nvPicPr>
          <p:cNvPr id="149" name="Google Shape;70;p29" descr="Google Shape;70;p29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303998"/>
            <a:ext cx="12192000" cy="5554126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Texto del título"/>
          <p:cNvSpPr txBox="1">
            <a:spLocks noGrp="1"/>
          </p:cNvSpPr>
          <p:nvPr>
            <p:ph type="title"/>
          </p:nvPr>
        </p:nvSpPr>
        <p:spPr>
          <a:xfrm>
            <a:off x="3692261" y="2295486"/>
            <a:ext cx="4807501" cy="1783801"/>
          </a:xfrm>
          <a:prstGeom prst="rect">
            <a:avLst/>
          </a:prstGeom>
        </p:spPr>
        <p:txBody>
          <a:bodyPr anchor="b"/>
          <a:lstStyle>
            <a:lvl1pPr>
              <a:defRPr sz="2600">
                <a:solidFill>
                  <a:srgbClr val="FFFFFF"/>
                </a:solidFill>
              </a:defRPr>
            </a:lvl1pPr>
          </a:lstStyle>
          <a:p>
            <a:r>
              <a:t>Texto del título</a:t>
            </a:r>
          </a:p>
        </p:txBody>
      </p:sp>
      <p:pic>
        <p:nvPicPr>
          <p:cNvPr id="151" name="Google Shape;72;p29" descr="Google Shape;72;p29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9000" y="197724"/>
            <a:ext cx="5173125" cy="889126"/>
          </a:xfrm>
          <a:prstGeom prst="rect">
            <a:avLst/>
          </a:prstGeom>
          <a:ln w="12700">
            <a:miter lim="400000"/>
          </a:ln>
        </p:spPr>
      </p:pic>
      <p:pic>
        <p:nvPicPr>
          <p:cNvPr id="152" name="Google Shape;73;p29" descr="Google Shape;73;p29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>
            <a:off x="-852413" y="4770337"/>
            <a:ext cx="2349451" cy="895226"/>
          </a:xfrm>
          <a:prstGeom prst="rect">
            <a:avLst/>
          </a:prstGeom>
          <a:ln w="12700">
            <a:miter lim="400000"/>
          </a:ln>
        </p:spPr>
      </p:pic>
      <p:pic>
        <p:nvPicPr>
          <p:cNvPr id="153" name="Google Shape;74;p29" descr="Google Shape;74;p29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2592" y="5066248"/>
            <a:ext cx="3885927" cy="14141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92000">
              <a:srgbClr val="FFFFFF"/>
            </a:gs>
            <a:gs pos="100000">
              <a:srgbClr val="F2F2F2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64;p28" descr="Google Shape;64;p28"/>
          <p:cNvPicPr>
            <a:picLocks noChangeAspect="1"/>
          </p:cNvPicPr>
          <p:nvPr/>
        </p:nvPicPr>
        <p:blipFill>
          <a:blip r:embed="rId7">
            <a:alphaModFix amt="4000"/>
          </a:blip>
          <a:stretch>
            <a:fillRect/>
          </a:stretch>
        </p:blipFill>
        <p:spPr>
          <a:xfrm>
            <a:off x="6692027" y="-294006"/>
            <a:ext cx="7186101" cy="9827476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Google Shape;65;p28"/>
          <p:cNvSpPr/>
          <p:nvPr/>
        </p:nvSpPr>
        <p:spPr>
          <a:xfrm>
            <a:off x="840150" y="6501300"/>
            <a:ext cx="8492242" cy="70083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pic>
        <p:nvPicPr>
          <p:cNvPr id="4" name="Google Shape;67;p28" descr="Google Shape;67;p28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049" y="6103349"/>
            <a:ext cx="401206" cy="548676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Imagen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98438" y="6031345"/>
            <a:ext cx="2464636" cy="634876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exto del título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rmAutofit/>
          </a:bodyPr>
          <a:lstStyle/>
          <a:p>
            <a:r>
              <a:t>Texto del título</a:t>
            </a:r>
          </a:p>
        </p:txBody>
      </p:sp>
      <p:sp>
        <p:nvSpPr>
          <p:cNvPr id="7" name="Nivel de texto 1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normAutofit/>
          </a:bodyPr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8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56350"/>
            <a:ext cx="2844800" cy="373350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>
            <a:spAutoFit/>
          </a:bodyPr>
          <a:lstStyle>
            <a:lvl1pPr algn="r">
              <a:defRPr sz="1300">
                <a:solidFill>
                  <a:srgbClr val="3F3F3F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62" r:id="rId5"/>
  </p:sldLayoutIdLst>
  <p:transition spd="med"/>
  <p:txStyles>
    <p:titleStyle>
      <a:lvl1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3F3F3F"/>
          </a:solidFill>
          <a:uFillTx/>
          <a:latin typeface="Montserrat Bold"/>
          <a:ea typeface="Montserrat Bold"/>
          <a:cs typeface="Montserrat Bold"/>
          <a:sym typeface="Montserrat Bold"/>
        </a:defRPr>
      </a:lvl1pPr>
      <a:lvl2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3F3F3F"/>
          </a:solidFill>
          <a:uFillTx/>
          <a:latin typeface="Montserrat Bold"/>
          <a:ea typeface="Montserrat Bold"/>
          <a:cs typeface="Montserrat Bold"/>
          <a:sym typeface="Montserrat Bold"/>
        </a:defRPr>
      </a:lvl2pPr>
      <a:lvl3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3F3F3F"/>
          </a:solidFill>
          <a:uFillTx/>
          <a:latin typeface="Montserrat Bold"/>
          <a:ea typeface="Montserrat Bold"/>
          <a:cs typeface="Montserrat Bold"/>
          <a:sym typeface="Montserrat Bold"/>
        </a:defRPr>
      </a:lvl3pPr>
      <a:lvl4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3F3F3F"/>
          </a:solidFill>
          <a:uFillTx/>
          <a:latin typeface="Montserrat Bold"/>
          <a:ea typeface="Montserrat Bold"/>
          <a:cs typeface="Montserrat Bold"/>
          <a:sym typeface="Montserrat Bold"/>
        </a:defRPr>
      </a:lvl4pPr>
      <a:lvl5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3F3F3F"/>
          </a:solidFill>
          <a:uFillTx/>
          <a:latin typeface="Montserrat Bold"/>
          <a:ea typeface="Montserrat Bold"/>
          <a:cs typeface="Montserrat Bold"/>
          <a:sym typeface="Montserrat Bold"/>
        </a:defRPr>
      </a:lvl5pPr>
      <a:lvl6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3F3F3F"/>
          </a:solidFill>
          <a:uFillTx/>
          <a:latin typeface="Montserrat Bold"/>
          <a:ea typeface="Montserrat Bold"/>
          <a:cs typeface="Montserrat Bold"/>
          <a:sym typeface="Montserrat Bold"/>
        </a:defRPr>
      </a:lvl6pPr>
      <a:lvl7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3F3F3F"/>
          </a:solidFill>
          <a:uFillTx/>
          <a:latin typeface="Montserrat Bold"/>
          <a:ea typeface="Montserrat Bold"/>
          <a:cs typeface="Montserrat Bold"/>
          <a:sym typeface="Montserrat Bold"/>
        </a:defRPr>
      </a:lvl7pPr>
      <a:lvl8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3F3F3F"/>
          </a:solidFill>
          <a:uFillTx/>
          <a:latin typeface="Montserrat Bold"/>
          <a:ea typeface="Montserrat Bold"/>
          <a:cs typeface="Montserrat Bold"/>
          <a:sym typeface="Montserrat Bold"/>
        </a:defRPr>
      </a:lvl8pPr>
      <a:lvl9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3F3F3F"/>
          </a:solidFill>
          <a:uFillTx/>
          <a:latin typeface="Montserrat Bold"/>
          <a:ea typeface="Montserrat Bold"/>
          <a:cs typeface="Montserrat Bold"/>
          <a:sym typeface="Montserrat Bold"/>
        </a:defRPr>
      </a:lvl9pPr>
    </p:titleStyle>
    <p:bodyStyle>
      <a:lvl1pPr marL="457200" marR="0" indent="-406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5A5A5F"/>
        </a:buClr>
        <a:buSzPts val="2800"/>
        <a:buFont typeface="Montserrat Regular"/>
        <a:buChar char="•"/>
        <a:tabLst/>
        <a:defRPr sz="2800" b="0" i="0" u="none" strike="noStrike" cap="none" spc="0" baseline="0">
          <a:solidFill>
            <a:srgbClr val="3F3F3F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1pPr>
      <a:lvl2pPr marL="977900" marR="0" indent="-4445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5A5A5F"/>
        </a:buClr>
        <a:buSzPts val="2800"/>
        <a:buFont typeface="Montserrat Regular"/>
        <a:buChar char="•"/>
        <a:tabLst/>
        <a:defRPr sz="2800" b="0" i="0" u="none" strike="noStrike" cap="none" spc="0" baseline="0">
          <a:solidFill>
            <a:srgbClr val="3F3F3F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2pPr>
      <a:lvl3pPr marL="1513839" marR="0" indent="-4978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5A5A5F"/>
        </a:buClr>
        <a:buSzPts val="2800"/>
        <a:buFont typeface="Montserrat Regular"/>
        <a:buChar char="•"/>
        <a:tabLst/>
        <a:defRPr sz="2800" b="0" i="0" u="none" strike="noStrike" cap="none" spc="0" baseline="0">
          <a:solidFill>
            <a:srgbClr val="3F3F3F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3pPr>
      <a:lvl4pPr marL="2019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5A5A5F"/>
        </a:buClr>
        <a:buSzPts val="2800"/>
        <a:buFont typeface="Montserrat Regular"/>
        <a:buChar char="•"/>
        <a:tabLst/>
        <a:defRPr sz="2800" b="0" i="0" u="none" strike="noStrike" cap="none" spc="0" baseline="0">
          <a:solidFill>
            <a:srgbClr val="3F3F3F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4pPr>
      <a:lvl5pPr marL="24765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5A5A5F"/>
        </a:buClr>
        <a:buSzPts val="2800"/>
        <a:buFont typeface="Montserrat Regular"/>
        <a:buChar char="•"/>
        <a:tabLst/>
        <a:defRPr sz="2800" b="0" i="0" u="none" strike="noStrike" cap="none" spc="0" baseline="0">
          <a:solidFill>
            <a:srgbClr val="3F3F3F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5pPr>
      <a:lvl6pPr marL="29337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5A5A5F"/>
        </a:buClr>
        <a:buSzPts val="2800"/>
        <a:buFont typeface="Montserrat Regular"/>
        <a:buChar char="•"/>
        <a:tabLst/>
        <a:defRPr sz="2800" b="0" i="0" u="none" strike="noStrike" cap="none" spc="0" baseline="0">
          <a:solidFill>
            <a:srgbClr val="3F3F3F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6pPr>
      <a:lvl7pPr marL="33909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5A5A5F"/>
        </a:buClr>
        <a:buSzPts val="2800"/>
        <a:buFont typeface="Montserrat Regular"/>
        <a:buChar char="•"/>
        <a:tabLst/>
        <a:defRPr sz="2800" b="0" i="0" u="none" strike="noStrike" cap="none" spc="0" baseline="0">
          <a:solidFill>
            <a:srgbClr val="3F3F3F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7pPr>
      <a:lvl8pPr marL="38481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5A5A5F"/>
        </a:buClr>
        <a:buSzPts val="2800"/>
        <a:buFont typeface="Montserrat Regular"/>
        <a:buChar char="•"/>
        <a:tabLst/>
        <a:defRPr sz="2800" b="0" i="0" u="none" strike="noStrike" cap="none" spc="0" baseline="0">
          <a:solidFill>
            <a:srgbClr val="3F3F3F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8pPr>
      <a:lvl9pPr marL="4305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5A5A5F"/>
        </a:buClr>
        <a:buSzPts val="2800"/>
        <a:buFont typeface="Montserrat Regular"/>
        <a:buChar char="•"/>
        <a:tabLst/>
        <a:defRPr sz="2800" b="0" i="0" u="none" strike="noStrike" cap="none" spc="0" baseline="0">
          <a:solidFill>
            <a:srgbClr val="3F3F3F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Bold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Bold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Bold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Bold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Bold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Bold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Bold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Bold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82;p1" descr="Google Shape;82;p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23524" y="0"/>
            <a:ext cx="7151253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Google Shape;79;p1"/>
          <p:cNvSpPr txBox="1">
            <a:spLocks noGrp="1"/>
          </p:cNvSpPr>
          <p:nvPr>
            <p:ph type="ctrTitle"/>
          </p:nvPr>
        </p:nvSpPr>
        <p:spPr>
          <a:xfrm>
            <a:off x="6203397" y="1986845"/>
            <a:ext cx="4864608" cy="2156237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Ecogestión: solución tecnológica para la disposición adecuada de residuos sólidos en hogares urbanos de Popayán</a:t>
            </a:r>
            <a:endParaRPr sz="2800" dirty="0"/>
          </a:p>
        </p:txBody>
      </p:sp>
      <p:sp>
        <p:nvSpPr>
          <p:cNvPr id="163" name="Google Shape;80;p1"/>
          <p:cNvSpPr txBox="1">
            <a:spLocks noGrp="1"/>
          </p:cNvSpPr>
          <p:nvPr>
            <p:ph type="subTitle" sz="quarter" idx="1"/>
          </p:nvPr>
        </p:nvSpPr>
        <p:spPr>
          <a:xfrm>
            <a:off x="6203397" y="4203513"/>
            <a:ext cx="4524666" cy="2310836"/>
          </a:xfrm>
          <a:prstGeom prst="rect">
            <a:avLst/>
          </a:prstGeom>
        </p:spPr>
        <p:txBody>
          <a:bodyPr>
            <a:noAutofit/>
          </a:bodyPr>
          <a:lstStyle/>
          <a:p>
            <a:pPr marL="50800" indent="0" algn="l"/>
            <a:r>
              <a:rPr lang="es-CO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Integrantes: Yessica Julieth Cruz Correa </a:t>
            </a:r>
          </a:p>
          <a:p>
            <a:pPr marL="50800" indent="0" algn="l"/>
            <a:r>
              <a:rPr lang="es-CO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William Jesús Insadará Martínez </a:t>
            </a:r>
          </a:p>
          <a:p>
            <a:pPr marL="50800" indent="0" algn="l"/>
            <a:r>
              <a:rPr lang="es-CO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Jhon Jairo Córdoba Balcázar</a:t>
            </a:r>
          </a:p>
          <a:p>
            <a:pPr marL="50800" indent="0" algn="l"/>
            <a:r>
              <a:rPr lang="es-CO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Tutor: Rubén Darío Ordoñez </a:t>
            </a:r>
          </a:p>
          <a:p>
            <a:pPr algn="l"/>
            <a:r>
              <a:rPr lang="es-CO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Universidad Nacional Abierta y a Distancia – UNAD</a:t>
            </a:r>
          </a:p>
          <a:p>
            <a:pPr algn="l"/>
            <a:r>
              <a:rPr lang="es-CO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Proyecto de Grado</a:t>
            </a:r>
          </a:p>
          <a:p>
            <a:pPr algn="l"/>
            <a:r>
              <a:rPr lang="es-CO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Mayo 2026</a:t>
            </a:r>
          </a:p>
        </p:txBody>
      </p:sp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75E24B44-B837-4A9E-8AE1-7B9F60C21D8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3371" y="640080"/>
            <a:ext cx="4609293" cy="461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54311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87;p2"/>
          <p:cNvSpPr txBox="1">
            <a:spLocks noGrp="1"/>
          </p:cNvSpPr>
          <p:nvPr>
            <p:ph type="title"/>
          </p:nvPr>
        </p:nvSpPr>
        <p:spPr>
          <a:xfrm>
            <a:off x="2926048" y="1292471"/>
            <a:ext cx="6339902" cy="12942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es-CO" sz="4400" b="1" dirty="0">
                <a:solidFill>
                  <a:srgbClr val="1D52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INTRODUCCIÓN</a:t>
            </a:r>
            <a:endParaRPr sz="4400" b="1" dirty="0">
              <a:solidFill>
                <a:srgbClr val="1D52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Google Shape;88;p2"/>
          <p:cNvSpPr txBox="1">
            <a:spLocks noGrp="1"/>
          </p:cNvSpPr>
          <p:nvPr>
            <p:ph type="body" sz="half" idx="1"/>
          </p:nvPr>
        </p:nvSpPr>
        <p:spPr>
          <a:xfrm>
            <a:off x="2325610" y="2475718"/>
            <a:ext cx="8144270" cy="180824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gestión inadecuada de residuos sólidos representa una problemática ambiental presente en diferentes sectores de la ciudad de Popayán. Frente a esta situación surge Ecogestión, una propuesta tecnológica orientada a promover prácticas responsables de reciclaje y educación ambiental.</a:t>
            </a:r>
          </a:p>
        </p:txBody>
      </p:sp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734728A5-E385-1E09-2215-BF43E5286D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829"/>
          <a:stretch/>
        </p:blipFill>
        <p:spPr>
          <a:xfrm>
            <a:off x="1961149" y="11412"/>
            <a:ext cx="1929797" cy="167335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A2C587F-2274-7CB4-8EB9-C89D6FE4EE0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66259" y="4084703"/>
            <a:ext cx="3459480" cy="239638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93;p3"/>
          <p:cNvSpPr txBox="1">
            <a:spLocks noGrp="1"/>
          </p:cNvSpPr>
          <p:nvPr>
            <p:ph type="title"/>
          </p:nvPr>
        </p:nvSpPr>
        <p:spPr>
          <a:xfrm>
            <a:off x="1174486" y="905256"/>
            <a:ext cx="7992530" cy="717910"/>
          </a:xfrm>
          <a:prstGeom prst="rect">
            <a:avLst/>
          </a:prstGeom>
        </p:spPr>
        <p:txBody>
          <a:bodyPr/>
          <a:lstStyle/>
          <a:p>
            <a:r>
              <a:rPr lang="es-C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PROBLEMÁTICA IDENTIFICADA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88;p2">
            <a:extLst>
              <a:ext uri="{FF2B5EF4-FFF2-40B4-BE49-F238E27FC236}">
                <a16:creationId xmlns:a16="http://schemas.microsoft.com/office/drawing/2014/main" id="{1F5D9D2B-928C-606A-98B8-BC18EC1AB897}"/>
              </a:ext>
            </a:extLst>
          </p:cNvPr>
          <p:cNvSpPr txBox="1">
            <a:spLocks/>
          </p:cNvSpPr>
          <p:nvPr/>
        </p:nvSpPr>
        <p:spPr>
          <a:xfrm>
            <a:off x="1174487" y="1870055"/>
            <a:ext cx="6689354" cy="3040273"/>
          </a:xfrm>
          <a:prstGeom prst="rect">
            <a:avLst/>
          </a:prstGeom>
        </p:spPr>
        <p:txBody>
          <a:bodyPr>
            <a:normAutofit/>
          </a:bodyPr>
          <a:lstStyle>
            <a:lvl1pPr marL="457200" marR="0" indent="-4064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  <a:lvl2pPr marL="977900" marR="0" indent="-4445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2pPr>
            <a:lvl3pPr marL="1513839" marR="0" indent="-4978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3pPr>
            <a:lvl4pPr marL="2019300" marR="0" indent="-5334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4pPr>
            <a:lvl5pPr marL="2476500" marR="0" indent="-5334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5pPr>
            <a:lvl6pPr marL="2933700" marR="0" indent="-5334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6pPr>
            <a:lvl7pPr marL="3390900" marR="0" indent="-5334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7pPr>
            <a:lvl8pPr marL="3848100" marR="0" indent="-5334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8pPr>
            <a:lvl9pPr marL="4305300" marR="0" indent="-5334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9pPr>
          </a:lstStyle>
          <a:p>
            <a:r>
              <a:rPr lang="es-MX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Disposición inadecuada de residuos sólidos. </a:t>
            </a:r>
          </a:p>
          <a:p>
            <a:r>
              <a:rPr lang="es-MX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Acumulación de basura en espacios públicos. </a:t>
            </a:r>
          </a:p>
          <a:p>
            <a:r>
              <a:rPr lang="es-MX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Desconocimiento sobre reciclaje y separación de residuos. </a:t>
            </a:r>
          </a:p>
          <a:p>
            <a:r>
              <a:rPr lang="es-MX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Impactos negativos en el medio ambiente y la salud pública. </a:t>
            </a:r>
          </a:p>
          <a:p>
            <a:r>
              <a:rPr lang="es-MX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Falta de herramientas tecnológicas ambientales. </a:t>
            </a:r>
          </a:p>
          <a:p>
            <a:pPr marL="50800" indent="0">
              <a:buNone/>
            </a:pPr>
            <a:r>
              <a:rPr lang="es-MX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falta de herramientas tecnológicas limita la participación ciudadana en procesos de reciclaje y gestión ambiental.</a:t>
            </a:r>
          </a:p>
          <a:p>
            <a:pPr marL="50800" indent="0">
              <a:buNone/>
            </a:pPr>
            <a:endParaRPr lang="es-MX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n 4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BE08DCD5-3212-53B6-46B5-126309357FE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63017" y="1707247"/>
            <a:ext cx="3466399" cy="2315967"/>
          </a:xfrm>
          <a:prstGeom prst="rect">
            <a:avLst/>
          </a:prstGeom>
        </p:spPr>
      </p:pic>
      <p:pic>
        <p:nvPicPr>
          <p:cNvPr id="6" name="Imagen 5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D237CB54-CBAA-DD9E-4873-2C2C316A004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67675" y="3962567"/>
            <a:ext cx="3475372" cy="2671939"/>
          </a:xfrm>
          <a:prstGeom prst="rect">
            <a:avLst/>
          </a:prstGeom>
        </p:spPr>
      </p:pic>
      <p:pic>
        <p:nvPicPr>
          <p:cNvPr id="12" name="Imagen 11" descr="Logotipo&#10;&#10;Descripción generada automáticamente">
            <a:extLst>
              <a:ext uri="{FF2B5EF4-FFF2-40B4-BE49-F238E27FC236}">
                <a16:creationId xmlns:a16="http://schemas.microsoft.com/office/drawing/2014/main" id="{16F99216-6C8D-F322-05A2-4DA94572B75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8708" y="-150724"/>
            <a:ext cx="2235252" cy="1490168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489A8DF-CC62-AB13-9C82-972972D0E16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302" b="4480"/>
          <a:stretch/>
        </p:blipFill>
        <p:spPr>
          <a:xfrm>
            <a:off x="11183112" y="1707246"/>
            <a:ext cx="1027176" cy="493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9867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87;p2"/>
          <p:cNvSpPr txBox="1">
            <a:spLocks noGrp="1"/>
          </p:cNvSpPr>
          <p:nvPr>
            <p:ph type="title"/>
          </p:nvPr>
        </p:nvSpPr>
        <p:spPr>
          <a:xfrm>
            <a:off x="2454646" y="1026252"/>
            <a:ext cx="6339902" cy="1294200"/>
          </a:xfrm>
          <a:prstGeom prst="rect">
            <a:avLst/>
          </a:prstGeom>
        </p:spPr>
        <p:txBody>
          <a:bodyPr/>
          <a:lstStyle/>
          <a:p>
            <a:r>
              <a:rPr lang="es-CO" b="1" dirty="0">
                <a:solidFill>
                  <a:srgbClr val="1D52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OBJETIVOS</a:t>
            </a:r>
            <a:endParaRPr b="1" dirty="0">
              <a:solidFill>
                <a:srgbClr val="1D52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Google Shape;88;p2"/>
          <p:cNvSpPr txBox="1">
            <a:spLocks noGrp="1"/>
          </p:cNvSpPr>
          <p:nvPr>
            <p:ph type="body" sz="half" idx="1"/>
          </p:nvPr>
        </p:nvSpPr>
        <p:spPr>
          <a:xfrm>
            <a:off x="2454646" y="2156903"/>
            <a:ext cx="5738378" cy="2808289"/>
          </a:xfrm>
          <a:prstGeom prst="rect">
            <a:avLst/>
          </a:prstGeo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s-MX" sz="1800" b="1" dirty="0">
                <a:solidFill>
                  <a:srgbClr val="1D52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 General</a:t>
            </a:r>
          </a:p>
          <a:p>
            <a:pPr marL="114300" indent="0">
              <a:buNone/>
            </a:pP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Diseñar un prototipo funcional de aplicación móvil orientado a fortalecer la gestión adecuada de residuos sólidos y promover la cultura ambiental en los hogares urbanos de Popayán.</a:t>
            </a:r>
          </a:p>
          <a:p>
            <a:pPr marL="114300" indent="0">
              <a:buNone/>
            </a:pPr>
            <a:r>
              <a:rPr lang="es-MX" sz="1800" b="1" dirty="0">
                <a:solidFill>
                  <a:srgbClr val="1D52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Objetivos Específicos</a:t>
            </a:r>
          </a:p>
          <a:p>
            <a:pPr lvl="0" eaLnBrk="0" fontAlgn="base" hangingPunct="0"/>
            <a:r>
              <a:rPr lang="es-CO" altLang="es-C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Identificar problemáticas relacionadas con residuos sólidos. </a:t>
            </a:r>
          </a:p>
          <a:p>
            <a:pPr lvl="0" eaLnBrk="0" fontAlgn="base" hangingPunct="0"/>
            <a:r>
              <a:rPr lang="es-CO" altLang="es-C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Diseñar interfaces interactivas del prototipo Ecogestión. </a:t>
            </a:r>
          </a:p>
          <a:p>
            <a:pPr lvl="0" eaLnBrk="0" fontAlgn="base" hangingPunct="0"/>
            <a:r>
              <a:rPr lang="es-CO" altLang="es-C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Integrar funcionalidades orientadas al reciclaje y educación ambiental. </a:t>
            </a:r>
            <a:endParaRPr lang="es-MX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s-MX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A10509EF-6961-2A27-C332-A5F2066157E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19466" y="2449511"/>
            <a:ext cx="2213024" cy="237852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97E6973-8CC1-BC19-B644-6616D82EE95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64611" y="513107"/>
            <a:ext cx="1509710" cy="1680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30305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34;p4"/>
          <p:cNvSpPr txBox="1">
            <a:spLocks noGrp="1"/>
          </p:cNvSpPr>
          <p:nvPr>
            <p:ph type="body" idx="1"/>
          </p:nvPr>
        </p:nvSpPr>
        <p:spPr>
          <a:xfrm>
            <a:off x="519918" y="1831968"/>
            <a:ext cx="3098003" cy="3015093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50800" indent="0">
              <a:lnSpc>
                <a:spcPct val="100000"/>
              </a:lnSpc>
              <a:buNone/>
            </a:pPr>
            <a:r>
              <a:rPr lang="es-MX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Enfoque de investigación</a:t>
            </a:r>
          </a:p>
          <a:p>
            <a:pPr>
              <a:lnSpc>
                <a:spcPct val="100000"/>
              </a:lnSpc>
            </a:pPr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Enfoque mixto y tipo descriptivo.</a:t>
            </a:r>
          </a:p>
          <a:p>
            <a:pPr marL="50800" indent="0">
              <a:lnSpc>
                <a:spcPct val="100000"/>
              </a:lnSpc>
              <a:buNone/>
            </a:pPr>
            <a:r>
              <a:rPr lang="es-MX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Recolección de información</a:t>
            </a:r>
          </a:p>
          <a:p>
            <a:pPr>
              <a:lnSpc>
                <a:spcPct val="100000"/>
              </a:lnSpc>
            </a:pPr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Aplicación de encuestas mediante Google Forms.</a:t>
            </a:r>
          </a:p>
          <a:p>
            <a:pPr marL="50800" indent="0">
              <a:lnSpc>
                <a:spcPct val="100000"/>
              </a:lnSpc>
              <a:buNone/>
            </a:pPr>
            <a:r>
              <a:rPr lang="es-MX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Hallazgos identificados</a:t>
            </a:r>
          </a:p>
          <a:p>
            <a:pPr>
              <a:lnSpc>
                <a:spcPct val="100000"/>
              </a:lnSpc>
            </a:pPr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Desconocimiento sobre reciclaje. </a:t>
            </a:r>
          </a:p>
          <a:p>
            <a:pPr>
              <a:lnSpc>
                <a:spcPct val="100000"/>
              </a:lnSpc>
            </a:pPr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Baja cultura ambiental. </a:t>
            </a:r>
          </a:p>
          <a:p>
            <a:pPr>
              <a:lnSpc>
                <a:spcPct val="100000"/>
              </a:lnSpc>
            </a:pPr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Necesidad de herramientas digitales ambientales. </a:t>
            </a:r>
          </a:p>
          <a:p>
            <a:endParaRPr lang="es-MX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87;p2">
            <a:extLst>
              <a:ext uri="{FF2B5EF4-FFF2-40B4-BE49-F238E27FC236}">
                <a16:creationId xmlns:a16="http://schemas.microsoft.com/office/drawing/2014/main" id="{227600E3-6589-EEBC-41C8-D11C33D872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11975" y="536686"/>
            <a:ext cx="8368050" cy="975241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es-CO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METODOLOGÍA DEL PROYECTO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F9D7CD3-5B79-DF6E-6750-D47863434C5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837178"/>
            <a:ext cx="12192000" cy="202082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BFEB00F-1F83-4521-DA98-1A9D7893E31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8776" y="1703951"/>
            <a:ext cx="2679192" cy="314311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E45C0D9-C63C-F5F1-CB07-E6485C7C683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87968" y="1694068"/>
            <a:ext cx="3304032" cy="3143110"/>
          </a:xfrm>
          <a:prstGeom prst="rect">
            <a:avLst/>
          </a:prstGeom>
        </p:spPr>
      </p:pic>
      <p:pic>
        <p:nvPicPr>
          <p:cNvPr id="9" name="Imagen 8" descr="Logotipo&#10;&#10;Descripción generada automáticamente">
            <a:extLst>
              <a:ext uri="{FF2B5EF4-FFF2-40B4-BE49-F238E27FC236}">
                <a16:creationId xmlns:a16="http://schemas.microsoft.com/office/drawing/2014/main" id="{FB659FC9-CFF5-582A-FCF7-51854FB5FCD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32080" y="0"/>
            <a:ext cx="2863824" cy="1909216"/>
          </a:xfrm>
          <a:prstGeom prst="rect">
            <a:avLst/>
          </a:prstGeom>
        </p:spPr>
      </p:pic>
      <p:sp>
        <p:nvSpPr>
          <p:cNvPr id="4" name="Google Shape;134;p4">
            <a:extLst>
              <a:ext uri="{FF2B5EF4-FFF2-40B4-BE49-F238E27FC236}">
                <a16:creationId xmlns:a16="http://schemas.microsoft.com/office/drawing/2014/main" id="{FF523962-C356-00C6-F69A-1F6D3D865C0D}"/>
              </a:ext>
            </a:extLst>
          </p:cNvPr>
          <p:cNvSpPr txBox="1">
            <a:spLocks/>
          </p:cNvSpPr>
          <p:nvPr/>
        </p:nvSpPr>
        <p:spPr>
          <a:xfrm>
            <a:off x="3656858" y="1831968"/>
            <a:ext cx="2424644" cy="2148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normAutofit/>
          </a:bodyPr>
          <a:lstStyle>
            <a:lvl1pPr marL="457200" marR="0" indent="-4064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  <a:lvl2pPr marL="977900" marR="0" indent="-4445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2pPr>
            <a:lvl3pPr marL="1513839" marR="0" indent="-4978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3pPr>
            <a:lvl4pPr marL="2019300" marR="0" indent="-5334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4pPr>
            <a:lvl5pPr marL="2476500" marR="0" indent="-5334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5pPr>
            <a:lvl6pPr marL="2933700" marR="0" indent="-5334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6pPr>
            <a:lvl7pPr marL="3390900" marR="0" indent="-5334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7pPr>
            <a:lvl8pPr marL="3848100" marR="0" indent="-5334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8pPr>
            <a:lvl9pPr marL="4305300" marR="0" indent="-5334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9pPr>
          </a:lstStyle>
          <a:p>
            <a:pPr marL="50800" indent="0">
              <a:lnSpc>
                <a:spcPct val="100000"/>
              </a:lnSpc>
              <a:buNone/>
            </a:pPr>
            <a:r>
              <a:rPr lang="es-MX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Desarrollo de la solución</a:t>
            </a:r>
          </a:p>
          <a:p>
            <a:pPr>
              <a:lnSpc>
                <a:spcPct val="100000"/>
              </a:lnSpc>
            </a:pPr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Aplicación de metodología Scrum. </a:t>
            </a:r>
          </a:p>
          <a:p>
            <a:pPr>
              <a:lnSpc>
                <a:spcPct val="100000"/>
              </a:lnSpc>
            </a:pPr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Validación funcional en entorno TRL5.</a:t>
            </a:r>
          </a:p>
          <a:p>
            <a:pPr>
              <a:lnSpc>
                <a:spcPct val="100000"/>
              </a:lnSpc>
            </a:pP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Desarrollo de interfaces y prototipo en Figma.</a:t>
            </a:r>
            <a:endParaRPr lang="es-MX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34;p4"/>
          <p:cNvSpPr txBox="1">
            <a:spLocks noGrp="1"/>
          </p:cNvSpPr>
          <p:nvPr>
            <p:ph type="body" idx="1"/>
          </p:nvPr>
        </p:nvSpPr>
        <p:spPr>
          <a:xfrm>
            <a:off x="966216" y="3117023"/>
            <a:ext cx="5260848" cy="269856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MX" sz="2000" b="1" dirty="0">
                <a:solidFill>
                  <a:srgbClr val="1D52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Principales hallazgos.</a:t>
            </a:r>
          </a:p>
          <a:p>
            <a:pPr lvl="0" eaLnBrk="0" fontAlgn="base" hangingPunct="0"/>
            <a:r>
              <a:rPr lang="es-CO" altLang="es-C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Dificultades en la separación adecuada de residuos. </a:t>
            </a:r>
          </a:p>
          <a:p>
            <a:pPr lvl="0" eaLnBrk="0" fontAlgn="base" hangingPunct="0"/>
            <a:r>
              <a:rPr lang="es-CO" altLang="es-C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Desconocimiento sobre puntos ecológicos. </a:t>
            </a:r>
          </a:p>
          <a:p>
            <a:pPr lvl="0" eaLnBrk="0" fontAlgn="base" hangingPunct="0"/>
            <a:r>
              <a:rPr lang="es-CO" altLang="es-C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Necesidad de fortalecer la educación ambiental. </a:t>
            </a:r>
          </a:p>
          <a:p>
            <a:pPr lvl="0" eaLnBrk="0" fontAlgn="base" hangingPunct="0"/>
            <a:r>
              <a:rPr lang="es-CO" altLang="es-C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Interés ciudadano en herramientas digitales ambientales. </a:t>
            </a:r>
          </a:p>
          <a:p>
            <a:pPr marL="50800" indent="0" eaLnBrk="0" fontAlgn="base" hangingPunct="0">
              <a:buNone/>
            </a:pP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 hallazgos identificados evidencian la necesidad de implementar soluciones tecnológicas orientadas al reciclaje y sostenibilidad ambiental.</a:t>
            </a:r>
            <a:endParaRPr lang="es-CO" altLang="es-CO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87;p2">
            <a:extLst>
              <a:ext uri="{FF2B5EF4-FFF2-40B4-BE49-F238E27FC236}">
                <a16:creationId xmlns:a16="http://schemas.microsoft.com/office/drawing/2014/main" id="{227600E3-6589-EEBC-41C8-D11C33D872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6216" y="1758815"/>
            <a:ext cx="8013192" cy="12942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s-CO" b="1" dirty="0">
                <a:solidFill>
                  <a:srgbClr val="1D52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RESULTADOS DE LA INVESTIGACIÓN</a:t>
            </a:r>
            <a:endParaRPr b="1" dirty="0">
              <a:solidFill>
                <a:srgbClr val="1D52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n 1" descr="Logotipo&#10;&#10;Descripción generada automáticamente">
            <a:extLst>
              <a:ext uri="{FF2B5EF4-FFF2-40B4-BE49-F238E27FC236}">
                <a16:creationId xmlns:a16="http://schemas.microsoft.com/office/drawing/2014/main" id="{C63EB3C1-D164-E6DD-2A85-E8CF23DBA8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79432" y="0"/>
            <a:ext cx="2977496" cy="198499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A40624A-7DF4-851C-FB99-7D4641050E9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19331" y="4521167"/>
            <a:ext cx="4206453" cy="224538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C4EF5A4-E64A-7527-394F-E0319021C9F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51906" y="1741609"/>
            <a:ext cx="4373878" cy="2862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66470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87;p2"/>
          <p:cNvSpPr txBox="1">
            <a:spLocks noGrp="1"/>
          </p:cNvSpPr>
          <p:nvPr>
            <p:ph type="title"/>
          </p:nvPr>
        </p:nvSpPr>
        <p:spPr>
          <a:xfrm>
            <a:off x="2454646" y="916524"/>
            <a:ext cx="6339902" cy="1294200"/>
          </a:xfrm>
          <a:prstGeom prst="rect">
            <a:avLst/>
          </a:prstGeom>
        </p:spPr>
        <p:txBody>
          <a:bodyPr/>
          <a:lstStyle/>
          <a:p>
            <a:r>
              <a:rPr lang="es-CO" b="1" dirty="0">
                <a:solidFill>
                  <a:srgbClr val="1D52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SOLUCIÓN PROPUESTA: ECOGESTIÓN</a:t>
            </a:r>
            <a:endParaRPr b="1" dirty="0">
              <a:solidFill>
                <a:srgbClr val="1D52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Google Shape;88;p2"/>
          <p:cNvSpPr txBox="1">
            <a:spLocks noGrp="1"/>
          </p:cNvSpPr>
          <p:nvPr>
            <p:ph type="body" sz="half" idx="1"/>
          </p:nvPr>
        </p:nvSpPr>
        <p:spPr>
          <a:xfrm>
            <a:off x="2454646" y="2267171"/>
            <a:ext cx="6460754" cy="2982025"/>
          </a:xfrm>
          <a:prstGeom prst="rect">
            <a:avLst/>
          </a:prstGeo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Ecogestión es una aplicación móvil orientada a mejorar la gestión de residuos sólidos mediante herramientas digitales relacionadas con reciclaje y educación ambiental.</a:t>
            </a:r>
          </a:p>
          <a:p>
            <a:pPr marL="114300" indent="0">
              <a:buNone/>
            </a:pPr>
            <a:r>
              <a:rPr lang="es-MX" sz="1800" b="1" dirty="0">
                <a:solidFill>
                  <a:srgbClr val="1D52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Características principales</a:t>
            </a:r>
          </a:p>
          <a:p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Clasificación de residuos. </a:t>
            </a:r>
          </a:p>
          <a:p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Puntos ecológicos. </a:t>
            </a:r>
          </a:p>
          <a:p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Reportes ambientales. </a:t>
            </a:r>
          </a:p>
          <a:p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Programación de recolección. </a:t>
            </a:r>
          </a:p>
          <a:p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Información educativa.</a:t>
            </a:r>
          </a:p>
        </p:txBody>
      </p:sp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A10509EF-6961-2A27-C332-A5F2066157E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43372" y="3008375"/>
            <a:ext cx="2035835" cy="218808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00E0BB0-9E76-9B1C-54EE-6A863CB59E6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08844" y="2210724"/>
            <a:ext cx="1977378" cy="2916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96358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93;p3"/>
          <p:cNvSpPr txBox="1">
            <a:spLocks noGrp="1"/>
          </p:cNvSpPr>
          <p:nvPr>
            <p:ph type="title"/>
          </p:nvPr>
        </p:nvSpPr>
        <p:spPr>
          <a:xfrm>
            <a:off x="1169758" y="521208"/>
            <a:ext cx="7992530" cy="717910"/>
          </a:xfrm>
          <a:prstGeom prst="rect">
            <a:avLst/>
          </a:prstGeom>
        </p:spPr>
        <p:txBody>
          <a:bodyPr/>
          <a:lstStyle/>
          <a:p>
            <a:r>
              <a:rPr lang="es-CO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PROTOTIPO FUNCIONAL (TRL5)</a:t>
            </a:r>
            <a:endParaRPr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88;p2">
            <a:extLst>
              <a:ext uri="{FF2B5EF4-FFF2-40B4-BE49-F238E27FC236}">
                <a16:creationId xmlns:a16="http://schemas.microsoft.com/office/drawing/2014/main" id="{1F5D9D2B-928C-606A-98B8-BC18EC1AB897}"/>
              </a:ext>
            </a:extLst>
          </p:cNvPr>
          <p:cNvSpPr txBox="1">
            <a:spLocks/>
          </p:cNvSpPr>
          <p:nvPr/>
        </p:nvSpPr>
        <p:spPr>
          <a:xfrm>
            <a:off x="1169758" y="1330559"/>
            <a:ext cx="9459986" cy="3040273"/>
          </a:xfrm>
          <a:prstGeom prst="rect">
            <a:avLst/>
          </a:prstGeom>
        </p:spPr>
        <p:txBody>
          <a:bodyPr>
            <a:normAutofit/>
          </a:bodyPr>
          <a:lstStyle>
            <a:lvl1pPr marL="457200" marR="0" indent="-4064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  <a:lvl2pPr marL="977900" marR="0" indent="-4445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2pPr>
            <a:lvl3pPr marL="1513839" marR="0" indent="-4978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3pPr>
            <a:lvl4pPr marL="2019300" marR="0" indent="-5334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4pPr>
            <a:lvl5pPr marL="2476500" marR="0" indent="-5334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5pPr>
            <a:lvl6pPr marL="2933700" marR="0" indent="-5334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6pPr>
            <a:lvl7pPr marL="3390900" marR="0" indent="-5334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7pPr>
            <a:lvl8pPr marL="3848100" marR="0" indent="-5334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8pPr>
            <a:lvl9pPr marL="4305300" marR="0" indent="-5334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9pPr>
          </a:lstStyle>
          <a:p>
            <a:pPr marL="50800" indent="0">
              <a:buNone/>
            </a:pPr>
            <a:r>
              <a:rPr lang="es-MX" sz="17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prototipo funcional fue desarrollado en Figma y validado en un entorno TRL5 mediante simulación interactiva de las funcionalidades del sistema.</a:t>
            </a:r>
          </a:p>
          <a:p>
            <a:pPr marL="50800" indent="0">
              <a:buNone/>
            </a:pPr>
            <a:r>
              <a:rPr lang="es-MX" sz="17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Módulos principales</a:t>
            </a:r>
          </a:p>
          <a:p>
            <a:r>
              <a:rPr lang="es-MX" sz="17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Inicio de sesión y registro. </a:t>
            </a:r>
          </a:p>
          <a:p>
            <a:r>
              <a:rPr lang="es-MX" sz="17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Clasificación de residuos. </a:t>
            </a:r>
          </a:p>
          <a:p>
            <a:r>
              <a:rPr lang="es-MX" sz="17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Puntos ecológicos. </a:t>
            </a:r>
          </a:p>
          <a:p>
            <a:r>
              <a:rPr lang="es-MX" sz="17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Reportes ambientales. </a:t>
            </a:r>
          </a:p>
          <a:p>
            <a:r>
              <a:rPr lang="es-MX" sz="17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Solicitud de recolección. </a:t>
            </a:r>
          </a:p>
          <a:p>
            <a:endParaRPr lang="es-MX" sz="22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s-MX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9281EFF6-17E4-3610-0933-B2CA1443266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45250" y="-89208"/>
            <a:ext cx="2462183" cy="164145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4B1C29E-4287-5BC3-AA7E-6F0E324C0E3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1728" y="2080399"/>
            <a:ext cx="7510272" cy="231786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B9B3028-EAFC-9D54-350B-381B355D79D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61888" y="4462273"/>
            <a:ext cx="6248400" cy="235501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60AA3C4-9E54-7440-7EF5-500C17CA202A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32" y="4462273"/>
            <a:ext cx="5742432" cy="235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75355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87;p2">
            <a:extLst>
              <a:ext uri="{FF2B5EF4-FFF2-40B4-BE49-F238E27FC236}">
                <a16:creationId xmlns:a16="http://schemas.microsoft.com/office/drawing/2014/main" id="{227600E3-6589-EEBC-41C8-D11C33D872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7928" y="2130309"/>
            <a:ext cx="8013192" cy="1020961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s-CO" b="1" dirty="0">
                <a:solidFill>
                  <a:srgbClr val="1D52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RESULTADOS OBTENIDOS</a:t>
            </a:r>
            <a:endParaRPr b="1" dirty="0">
              <a:solidFill>
                <a:srgbClr val="1D52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DB7A9B-739E-3847-91AC-DE2EBFC56D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7928" y="2848059"/>
            <a:ext cx="6854762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s-CO" altLang="es-CO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Diseño funcional del prototipo Ecogestión. 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s-CO" altLang="es-CO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Integración de módulos educativos y ambientales. 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s-CO" altLang="es-CO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Organización interactiva de funcionalidades del sistema.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s-CO" altLang="es-CO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Simulación de procesos de reciclaje y recolección.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s-CO" altLang="es-CO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Validación conceptual del prototipo en entorno TRL5.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s-CO" altLang="es-CO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Propuesta tecnológica orientada a la sostenibilidad ambiental.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s-CO" altLang="es-CO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6A8ED942-4A14-49DD-3015-0E318AD5CDA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33104" y="-255773"/>
            <a:ext cx="3169982" cy="340704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42411E1-E13E-BB56-19A2-5B117BC7915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14296" y="3224643"/>
            <a:ext cx="2821344" cy="2781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73036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Logotipo&#10;&#10;Descripción generada automáticamente">
            <a:extLst>
              <a:ext uri="{FF2B5EF4-FFF2-40B4-BE49-F238E27FC236}">
                <a16:creationId xmlns:a16="http://schemas.microsoft.com/office/drawing/2014/main" id="{49120546-9654-8E87-B327-8D25E8FF1B1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39606" y="143384"/>
            <a:ext cx="862000" cy="926463"/>
          </a:xfrm>
          <a:prstGeom prst="rect">
            <a:avLst/>
          </a:prstGeom>
        </p:spPr>
      </p:pic>
      <p:sp>
        <p:nvSpPr>
          <p:cNvPr id="7" name="Google Shape;93;p3">
            <a:extLst>
              <a:ext uri="{FF2B5EF4-FFF2-40B4-BE49-F238E27FC236}">
                <a16:creationId xmlns:a16="http://schemas.microsoft.com/office/drawing/2014/main" id="{50A02E2B-E310-E8B0-6223-28658E5B72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9606" y="1216152"/>
            <a:ext cx="4490378" cy="717910"/>
          </a:xfrm>
          <a:prstGeom prst="rect">
            <a:avLst/>
          </a:prstGeom>
        </p:spPr>
        <p:txBody>
          <a:bodyPr/>
          <a:lstStyle/>
          <a:p>
            <a:r>
              <a:rPr lang="es-CO" b="1" dirty="0">
                <a:solidFill>
                  <a:srgbClr val="1D52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CONCLUSIONES</a:t>
            </a:r>
            <a:endParaRPr b="1" dirty="0">
              <a:solidFill>
                <a:srgbClr val="1D52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88;p2">
            <a:extLst>
              <a:ext uri="{FF2B5EF4-FFF2-40B4-BE49-F238E27FC236}">
                <a16:creationId xmlns:a16="http://schemas.microsoft.com/office/drawing/2014/main" id="{65E5D80A-014B-C792-883D-49162F80B0E6}"/>
              </a:ext>
            </a:extLst>
          </p:cNvPr>
          <p:cNvSpPr txBox="1">
            <a:spLocks/>
          </p:cNvSpPr>
          <p:nvPr/>
        </p:nvSpPr>
        <p:spPr>
          <a:xfrm>
            <a:off x="2239606" y="2080367"/>
            <a:ext cx="7635914" cy="3323737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457200" marR="0" indent="-4064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  <a:lvl2pPr marL="977900" marR="0" indent="-4445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2pPr>
            <a:lvl3pPr marL="1513839" marR="0" indent="-4978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3pPr>
            <a:lvl4pPr marL="2019300" marR="0" indent="-5334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4pPr>
            <a:lvl5pPr marL="2476500" marR="0" indent="-5334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5pPr>
            <a:lvl6pPr marL="2933700" marR="0" indent="-5334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6pPr>
            <a:lvl7pPr marL="3390900" marR="0" indent="-5334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7pPr>
            <a:lvl8pPr marL="3848100" marR="0" indent="-5334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8pPr>
            <a:lvl9pPr marL="4305300" marR="0" indent="-5334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5A5F"/>
              </a:buClr>
              <a:buSzPts val="2800"/>
              <a:buFont typeface="Montserrat Regular"/>
              <a:buChar char="•"/>
              <a:tabLst/>
              <a:defRPr sz="2800" b="0" i="0" u="none" strike="noStrike" cap="none" spc="0" baseline="0">
                <a:solidFill>
                  <a:srgbClr val="3F3F3F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Ecogestión permitió identificar problemáticas relacionadas con la gestión inadecuada de residuos sólidos en Popayán y la necesidad de fortalecer la educación ambiental.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CO" altLang="es-CO" sz="24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 prototipo desarrollado en Figma permitió representar funcionalidades relacionadas con reciclaje, clasificación de residuos y programación de recolección.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CO" altLang="es-CO" sz="24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metodología Scrum y la validación en entorno TRL5 facilitaron el desarrollo organizado del proyecto y la estructuración de una propuesta tecnológica ambiental.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679BE95-0201-1971-419B-8D557602427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00032" y="3285616"/>
            <a:ext cx="2287612" cy="226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36031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1;p21"/>
          <p:cNvSpPr txBox="1">
            <a:spLocks noGrp="1"/>
          </p:cNvSpPr>
          <p:nvPr>
            <p:ph type="title"/>
          </p:nvPr>
        </p:nvSpPr>
        <p:spPr>
          <a:xfrm>
            <a:off x="2633473" y="2450592"/>
            <a:ext cx="6286914" cy="978408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s-MX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Muchas Gracias </a:t>
            </a:r>
            <a:endParaRPr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94E9B16-5948-78AE-CCF9-E2117D3235D7}"/>
              </a:ext>
            </a:extLst>
          </p:cNvPr>
          <p:cNvSpPr txBox="1"/>
          <p:nvPr/>
        </p:nvSpPr>
        <p:spPr>
          <a:xfrm>
            <a:off x="2256109" y="3785616"/>
            <a:ext cx="7041642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s-E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Proyecto </a:t>
            </a:r>
            <a:r>
              <a:rPr lang="es-MX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Ecogestión</a:t>
            </a:r>
            <a:endParaRPr lang="es-E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E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Universidad Nacional Abierta y a Distancia – UNAD 2026</a:t>
            </a:r>
            <a:endParaRPr lang="es-CO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4BF44CC8-70B2-6F0D-EC6A-4960F830861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80776" y="-73153"/>
            <a:ext cx="1323481" cy="130436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Tema UNAD 1">
  <a:themeElements>
    <a:clrScheme name="Tema UNAD 1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5D5D5"/>
      </a:accent1>
      <a:accent2>
        <a:srgbClr val="005681"/>
      </a:accent2>
      <a:accent3>
        <a:srgbClr val="F4BE00"/>
      </a:accent3>
      <a:accent4>
        <a:srgbClr val="EE7203"/>
      </a:accent4>
      <a:accent5>
        <a:srgbClr val="00739B"/>
      </a:accent5>
      <a:accent6>
        <a:srgbClr val="74189B"/>
      </a:accent6>
      <a:hlink>
        <a:srgbClr val="0000FF"/>
      </a:hlink>
      <a:folHlink>
        <a:srgbClr val="FF00FF"/>
      </a:folHlink>
    </a:clrScheme>
    <a:fontScheme name="Tema UNAD 1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Tema UNAD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Tema UNAD 1">
  <a:themeElements>
    <a:clrScheme name="Tema UNAD 1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5D5D5"/>
      </a:accent1>
      <a:accent2>
        <a:srgbClr val="005681"/>
      </a:accent2>
      <a:accent3>
        <a:srgbClr val="F4BE00"/>
      </a:accent3>
      <a:accent4>
        <a:srgbClr val="EE7203"/>
      </a:accent4>
      <a:accent5>
        <a:srgbClr val="00739B"/>
      </a:accent5>
      <a:accent6>
        <a:srgbClr val="74189B"/>
      </a:accent6>
      <a:hlink>
        <a:srgbClr val="0000FF"/>
      </a:hlink>
      <a:folHlink>
        <a:srgbClr val="FF00FF"/>
      </a:folHlink>
    </a:clrScheme>
    <a:fontScheme name="Tema UNAD 1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Tema UNAD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538</Words>
  <Application>Microsoft Office PowerPoint</Application>
  <PresentationFormat>Panorámica</PresentationFormat>
  <Paragraphs>77</Paragraphs>
  <Slides>11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Arial</vt:lpstr>
      <vt:lpstr>Montserrat Bold</vt:lpstr>
      <vt:lpstr>Montserrat Regular</vt:lpstr>
      <vt:lpstr>Montserrat SemiBold</vt:lpstr>
      <vt:lpstr>Roboto Bold</vt:lpstr>
      <vt:lpstr>Times New Roman</vt:lpstr>
      <vt:lpstr>Tema UNAD 1</vt:lpstr>
      <vt:lpstr>Ecogestión: solución tecnológica para la disposición adecuada de residuos sólidos en hogares urbanos de Popayán</vt:lpstr>
      <vt:lpstr>INTRODUCCIÓN</vt:lpstr>
      <vt:lpstr>PROBLEMÁTICA IDENTIFICADA</vt:lpstr>
      <vt:lpstr>OBJETIVOS</vt:lpstr>
      <vt:lpstr>METODOLOGÍA DEL PROYECTO</vt:lpstr>
      <vt:lpstr>RESULTADOS DE LA INVESTIGACIÓN</vt:lpstr>
      <vt:lpstr>SOLUCIÓN PROPUESTA: ECOGESTIÓN</vt:lpstr>
      <vt:lpstr>PROTOTIPO FUNCIONAL (TRL5)</vt:lpstr>
      <vt:lpstr>RESULTADOS OBTENIDOS</vt:lpstr>
      <vt:lpstr>CONCLUSIONES</vt:lpstr>
      <vt:lpstr>Muchas Gracias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Ecogestión: solución tecnológica para la disposición adecuada de residuos sólidos en hogares urbanos de Popayán</dc:title>
  <dc:creator>Daniel Andres Guzman Arevalo</dc:creator>
  <cp:lastModifiedBy>WILLIAM JESUS INSANDARA MARTINEZ</cp:lastModifiedBy>
  <cp:revision>29</cp:revision>
  <dcterms:modified xsi:type="dcterms:W3CDTF">2026-05-22T03:15:31Z</dcterms:modified>
</cp:coreProperties>
</file>